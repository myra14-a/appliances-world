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876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84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0"/>
            <a:ext cx="6245352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943600" y="0"/>
            <a:ext cx="1371600" cy="6858000"/>
          </a:xfrm>
          <a:prstGeom prst="rect">
            <a:avLst/>
          </a:prstGeom>
          <a:solidFill>
            <a:srgbClr val="111111">
              <a:alpha val="65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FDBFF"/>
          </a:solidFill>
          <a:ln/>
        </p:spPr>
      </p:sp>
      <p:sp>
        <p:nvSpPr>
          <p:cNvPr id="7" name="Text 4"/>
          <p:cNvSpPr/>
          <p:nvPr/>
        </p:nvSpPr>
        <p:spPr>
          <a:xfrm>
            <a:off x="435429" y="1449537"/>
            <a:ext cx="6056811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600" b="1" dirty="0" smtClean="0">
                <a:solidFill>
                  <a:srgbClr val="FFFFFF"/>
                </a:solidFill>
                <a:latin typeface="Georgia" pitchFamily="34" charset="0"/>
              </a:rPr>
              <a:t>APPLIANCES WORLD</a:t>
            </a:r>
            <a:endParaRPr lang="en-US" sz="6600" dirty="0"/>
          </a:p>
        </p:txBody>
      </p:sp>
      <p:sp>
        <p:nvSpPr>
          <p:cNvPr id="8" name="Shape 5"/>
          <p:cNvSpPr/>
          <p:nvPr/>
        </p:nvSpPr>
        <p:spPr>
          <a:xfrm>
            <a:off x="712192" y="3219881"/>
            <a:ext cx="855351" cy="45719"/>
          </a:xfrm>
          <a:prstGeom prst="rect">
            <a:avLst/>
          </a:prstGeom>
          <a:solidFill>
            <a:srgbClr val="7FDBFF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3939177"/>
            <a:ext cx="5943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modern home appliances website — discover, compare and order premium appliances built for everyday life.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737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FDBF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0584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 of Contents</a:t>
            </a:r>
            <a:endParaRPr lang="en-US" sz="50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440680" cy="777240"/>
          </a:xfrm>
          <a:prstGeom prst="rect">
            <a:avLst/>
          </a:prstGeom>
          <a:solidFill>
            <a:srgbClr val="111111"/>
          </a:solidFill>
          <a:ln w="6350">
            <a:solidFill>
              <a:srgbClr val="7FDB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42316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7FD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645920" y="24505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440680" cy="777240"/>
          </a:xfrm>
          <a:prstGeom prst="rect">
            <a:avLst/>
          </a:prstGeom>
          <a:solidFill>
            <a:srgbClr val="111111"/>
          </a:solidFill>
          <a:ln w="6350">
            <a:solidFill>
              <a:srgbClr val="7FDB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242316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7FD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315200" y="24505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of the Website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246120"/>
            <a:ext cx="5440680" cy="777240"/>
          </a:xfrm>
          <a:prstGeom prst="rect">
            <a:avLst/>
          </a:prstGeom>
          <a:solidFill>
            <a:srgbClr val="111111"/>
          </a:solidFill>
          <a:ln w="6350">
            <a:solidFill>
              <a:srgbClr val="7FD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38328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7FD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645920" y="341071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Offered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17920" y="3246120"/>
            <a:ext cx="5440680" cy="777240"/>
          </a:xfrm>
          <a:prstGeom prst="rect">
            <a:avLst/>
          </a:prstGeom>
          <a:solidFill>
            <a:srgbClr val="111111"/>
          </a:solidFill>
          <a:ln w="6350">
            <a:solidFill>
              <a:srgbClr val="7FDB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338328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7FD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7315200" y="341071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48640" y="4206240"/>
            <a:ext cx="5440680" cy="777240"/>
          </a:xfrm>
          <a:prstGeom prst="rect">
            <a:avLst/>
          </a:prstGeom>
          <a:solidFill>
            <a:srgbClr val="111111"/>
          </a:solidFill>
          <a:ln w="6350">
            <a:solidFill>
              <a:srgbClr val="7FDB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4340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7FD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645920" y="437083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for Customers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7FD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09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Inverted="1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FDBFF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822960"/>
            <a:ext cx="5029200" cy="5212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675120" y="822960"/>
            <a:ext cx="5029200" cy="5212080"/>
          </a:xfrm>
          <a:prstGeom prst="rect">
            <a:avLst/>
          </a:prstGeom>
          <a:solidFill>
            <a:srgbClr val="273755">
              <a:alpha val="5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600" dirty="0" smtClean="0">
                <a:solidFill>
                  <a:srgbClr val="7FD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r>
              <a:rPr lang="en-US" sz="1100" b="1" kern="0" spc="600" dirty="0">
                <a:solidFill>
                  <a:srgbClr val="7FD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///  INTRODUCTION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67904" y="1354545"/>
            <a:ext cx="6035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Welcome </a:t>
            </a:r>
            <a:r>
              <a:rPr lang="en-US" sz="4000" b="1" dirty="0" smtClean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</a:t>
            </a:r>
          </a:p>
          <a:p>
            <a:pPr marL="0" indent="0">
              <a:buNone/>
            </a:pPr>
            <a:r>
              <a:rPr lang="en-US" sz="4000" b="1" dirty="0" smtClean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Appliances World.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548640" y="2557780"/>
            <a:ext cx="822960" cy="45720"/>
          </a:xfrm>
          <a:prstGeom prst="rect">
            <a:avLst/>
          </a:prstGeom>
          <a:solidFill>
            <a:srgbClr val="7FDBFF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2891971"/>
            <a:ext cx="6035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500" dirty="0" smtClean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Appliances World</a:t>
            </a:r>
            <a:r>
              <a:rPr lang="en-US" sz="1500" dirty="0" smtClean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an online home appliances store designed to make buying premium appliances simple, fast and reliable. From refrigerators and washing machines to ovens, ACs and smart TVs — everything you need for a modern home lives in one place.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308826" y="4896394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 smtClean="0">
                <a:solidFill>
                  <a:srgbClr val="7FDBFF"/>
                </a:solidFill>
                <a:latin typeface="Georgia" pitchFamily="34" charset="0"/>
              </a:rPr>
              <a:t>10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1111613" y="55321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309292" y="49276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7FD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24/7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4374787" y="55321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7FD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09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Inverted="1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737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FDB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600" dirty="0" smtClean="0">
                <a:solidFill>
                  <a:srgbClr val="7FD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r>
              <a:rPr lang="en-US" sz="1100" b="1" kern="0" spc="600" dirty="0">
                <a:solidFill>
                  <a:srgbClr val="7FD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///  PURPOSE OF THE WEBSITE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website exists.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440680" cy="1691640"/>
          </a:xfrm>
          <a:prstGeom prst="rect">
            <a:avLst/>
          </a:prstGeom>
          <a:solidFill>
            <a:srgbClr val="111111"/>
          </a:solidFill>
          <a:ln w="6350">
            <a:solidFill>
              <a:srgbClr val="7FDB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4231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7FD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737360" y="24231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737360" y="29260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customers explore the full range of home appliances in one place.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2194560"/>
            <a:ext cx="5440680" cy="1691640"/>
          </a:xfrm>
          <a:prstGeom prst="rect">
            <a:avLst/>
          </a:prstGeom>
          <a:solidFill>
            <a:srgbClr val="111111"/>
          </a:solidFill>
          <a:ln w="6350">
            <a:solidFill>
              <a:srgbClr val="7FDB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4231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7FD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406640" y="24231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406640" y="29260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Side-by-side specs, prices and reviews to choose the right product.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114800"/>
            <a:ext cx="5440680" cy="1691640"/>
          </a:xfrm>
          <a:prstGeom prst="rect">
            <a:avLst/>
          </a:prstGeom>
          <a:solidFill>
            <a:srgbClr val="111111"/>
          </a:solidFill>
          <a:ln w="6350">
            <a:solidFill>
              <a:srgbClr val="7FDB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3434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7FD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737360" y="434340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Online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737360" y="484632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checkout with delivery and installation across the city.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4114800"/>
            <a:ext cx="5440680" cy="1691640"/>
          </a:xfrm>
          <a:prstGeom prst="rect">
            <a:avLst/>
          </a:prstGeom>
          <a:solidFill>
            <a:srgbClr val="111111"/>
          </a:solidFill>
          <a:ln w="6350">
            <a:solidFill>
              <a:srgbClr val="7FDB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43434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7FD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7406640" y="434340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406640" y="484632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access to warranty, service requests and live chat help.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7FD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09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Inverted="1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FDB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600" dirty="0" smtClean="0">
                <a:solidFill>
                  <a:srgbClr val="7FD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r>
              <a:rPr lang="en-US" sz="1100" b="1" kern="0" spc="600" dirty="0">
                <a:solidFill>
                  <a:srgbClr val="7FD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///  PRODUCTS OFFERED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for the modern home.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66160" cy="1920240"/>
          </a:xfrm>
          <a:prstGeom prst="rect">
            <a:avLst/>
          </a:prstGeom>
          <a:solidFill>
            <a:srgbClr val="273755"/>
          </a:solidFill>
          <a:ln w="6350">
            <a:solidFill>
              <a:srgbClr val="7FDBF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2103120"/>
            <a:ext cx="1463040" cy="1463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240280" y="21945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Refrigerators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2240280" y="2697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cooling, inverter compressors.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240280" y="3566160"/>
            <a:ext cx="365760" cy="36576"/>
          </a:xfrm>
          <a:prstGeom prst="rect">
            <a:avLst/>
          </a:prstGeom>
          <a:solidFill>
            <a:srgbClr val="7FDBFF"/>
          </a:solidFill>
          <a:ln/>
        </p:spPr>
      </p:sp>
      <p:sp>
        <p:nvSpPr>
          <p:cNvPr id="10" name="Shape 7"/>
          <p:cNvSpPr/>
          <p:nvPr/>
        </p:nvSpPr>
        <p:spPr>
          <a:xfrm>
            <a:off x="4343400" y="2011680"/>
            <a:ext cx="3566160" cy="1920240"/>
          </a:xfrm>
          <a:prstGeom prst="rect">
            <a:avLst/>
          </a:prstGeom>
          <a:solidFill>
            <a:srgbClr val="273755"/>
          </a:solidFill>
          <a:ln w="6350">
            <a:solidFill>
              <a:srgbClr val="7FDBFF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434840" y="2103120"/>
            <a:ext cx="1463040" cy="1463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035040" y="21945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Washing Machines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035040" y="2697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 wash and quiet spin cycles.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035040" y="3566160"/>
            <a:ext cx="365760" cy="36576"/>
          </a:xfrm>
          <a:prstGeom prst="rect">
            <a:avLst/>
          </a:prstGeom>
          <a:solidFill>
            <a:srgbClr val="7FDBFF"/>
          </a:solidFill>
          <a:ln/>
        </p:spPr>
      </p:sp>
      <p:sp>
        <p:nvSpPr>
          <p:cNvPr id="15" name="Shape 11"/>
          <p:cNvSpPr/>
          <p:nvPr/>
        </p:nvSpPr>
        <p:spPr>
          <a:xfrm>
            <a:off x="8138160" y="2011680"/>
            <a:ext cx="3566160" cy="1920240"/>
          </a:xfrm>
          <a:prstGeom prst="rect">
            <a:avLst/>
          </a:prstGeom>
          <a:solidFill>
            <a:srgbClr val="273755"/>
          </a:solidFill>
          <a:ln w="6350">
            <a:solidFill>
              <a:srgbClr val="7FDBFF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29600" y="2103120"/>
            <a:ext cx="1463040" cy="1463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829800" y="21945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Microwaves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9829800" y="2697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Convection ovens and grills.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9829800" y="3566160"/>
            <a:ext cx="365760" cy="36576"/>
          </a:xfrm>
          <a:prstGeom prst="rect">
            <a:avLst/>
          </a:prstGeom>
          <a:solidFill>
            <a:srgbClr val="7FDBFF"/>
          </a:solidFill>
          <a:ln/>
        </p:spPr>
      </p:sp>
      <p:sp>
        <p:nvSpPr>
          <p:cNvPr id="20" name="Shape 15"/>
          <p:cNvSpPr/>
          <p:nvPr/>
        </p:nvSpPr>
        <p:spPr>
          <a:xfrm>
            <a:off x="548640" y="4160520"/>
            <a:ext cx="3566160" cy="1920240"/>
          </a:xfrm>
          <a:prstGeom prst="rect">
            <a:avLst/>
          </a:prstGeom>
          <a:solidFill>
            <a:srgbClr val="273755"/>
          </a:solidFill>
          <a:ln w="6350">
            <a:solidFill>
              <a:srgbClr val="7FDBFF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40080" y="4251960"/>
            <a:ext cx="1463040" cy="14630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2240280" y="43434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Conditioners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2240280" y="484632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Energy-efficient inverter ACs.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2240280" y="5715000"/>
            <a:ext cx="365760" cy="36576"/>
          </a:xfrm>
          <a:prstGeom prst="rect">
            <a:avLst/>
          </a:prstGeom>
          <a:solidFill>
            <a:srgbClr val="7FDBFF"/>
          </a:solidFill>
          <a:ln/>
        </p:spPr>
      </p:sp>
      <p:sp>
        <p:nvSpPr>
          <p:cNvPr id="25" name="Shape 19"/>
          <p:cNvSpPr/>
          <p:nvPr/>
        </p:nvSpPr>
        <p:spPr>
          <a:xfrm>
            <a:off x="4343400" y="4160520"/>
            <a:ext cx="3566160" cy="1920240"/>
          </a:xfrm>
          <a:prstGeom prst="rect">
            <a:avLst/>
          </a:prstGeom>
          <a:solidFill>
            <a:srgbClr val="273755"/>
          </a:solidFill>
          <a:ln w="6350">
            <a:solidFill>
              <a:srgbClr val="7FDBFF"/>
            </a:solidFill>
            <a:prstDash val="solid"/>
          </a:ln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434840" y="4251960"/>
            <a:ext cx="1463040" cy="146304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6035040" y="43434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TVs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6035040" y="484632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4K OLED home entertainment.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035040" y="5715000"/>
            <a:ext cx="365760" cy="36576"/>
          </a:xfrm>
          <a:prstGeom prst="rect">
            <a:avLst/>
          </a:prstGeom>
          <a:solidFill>
            <a:srgbClr val="7FDBFF"/>
          </a:solidFill>
          <a:ln/>
        </p:spPr>
      </p:sp>
      <p:sp>
        <p:nvSpPr>
          <p:cNvPr id="30" name="Shape 23"/>
          <p:cNvSpPr/>
          <p:nvPr/>
        </p:nvSpPr>
        <p:spPr>
          <a:xfrm>
            <a:off x="8138160" y="4160520"/>
            <a:ext cx="3566160" cy="1920240"/>
          </a:xfrm>
          <a:prstGeom prst="rect">
            <a:avLst/>
          </a:prstGeom>
          <a:solidFill>
            <a:srgbClr val="273755"/>
          </a:solidFill>
          <a:ln w="6350">
            <a:solidFill>
              <a:srgbClr val="7FDBFF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9829800" y="43434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Geyser</a:t>
            </a:r>
            <a:endParaRPr lang="en-US" sz="1500" dirty="0"/>
          </a:p>
        </p:txBody>
      </p:sp>
      <p:sp>
        <p:nvSpPr>
          <p:cNvPr id="33" name="Text 25"/>
          <p:cNvSpPr/>
          <p:nvPr/>
        </p:nvSpPr>
        <p:spPr>
          <a:xfrm>
            <a:off x="9829800" y="484632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smtClean="0">
                <a:solidFill>
                  <a:srgbClr val="B8C2D6"/>
                </a:solidFill>
                <a:latin typeface="Calibri" pitchFamily="34" charset="0"/>
                <a:cs typeface="Calibri" pitchFamily="34" charset="-120"/>
              </a:rPr>
              <a:t>Glory Fast Geyser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9829800" y="5715000"/>
            <a:ext cx="365760" cy="36576"/>
          </a:xfrm>
          <a:prstGeom prst="rect">
            <a:avLst/>
          </a:prstGeom>
          <a:solidFill>
            <a:srgbClr val="7FDBFF"/>
          </a:solidFill>
          <a:ln/>
        </p:spPr>
      </p:sp>
      <p:sp>
        <p:nvSpPr>
          <p:cNvPr id="36" name="Text 28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7FD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09</a:t>
            </a:r>
            <a:endParaRPr lang="en-US" sz="1000" dirty="0"/>
          </a:p>
        </p:txBody>
      </p:sp>
      <p:pic>
        <p:nvPicPr>
          <p:cNvPr id="37" name="Picture 36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2460" y="4297680"/>
            <a:ext cx="1463040" cy="14630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Inverted="1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2" grpId="0" animBg="1"/>
      <p:bldP spid="13" grpId="0" animBg="1"/>
      <p:bldP spid="17" grpId="0" animBg="1"/>
      <p:bldP spid="18" grpId="0" animBg="1"/>
      <p:bldP spid="22" grpId="0" animBg="1"/>
      <p:bldP spid="23" grpId="0" animBg="1"/>
      <p:bldP spid="27" grpId="0" animBg="1"/>
      <p:bldP spid="28" grpId="0" animBg="1"/>
      <p:bldP spid="32" grpId="0" animBg="1"/>
      <p:bldP spid="3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737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FDBFF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914400"/>
            <a:ext cx="4114800" cy="5029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589520" y="914401"/>
            <a:ext cx="4114800" cy="5029200"/>
          </a:xfrm>
          <a:prstGeom prst="rect">
            <a:avLst/>
          </a:prstGeom>
          <a:solidFill>
            <a:srgbClr val="111111">
              <a:alpha val="5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7FD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///  KEY FEATURES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100584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makes the site great.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548640" y="1920240"/>
            <a:ext cx="822960" cy="45720"/>
          </a:xfrm>
          <a:prstGeom prst="rect">
            <a:avLst/>
          </a:prstGeom>
          <a:solidFill>
            <a:srgbClr val="7FDBFF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2313432"/>
            <a:ext cx="109728" cy="109728"/>
          </a:xfrm>
          <a:prstGeom prst="ellipse">
            <a:avLst/>
          </a:prstGeom>
          <a:solidFill>
            <a:srgbClr val="7FDBFF"/>
          </a:solidFill>
          <a:ln w="12700">
            <a:solidFill>
              <a:srgbClr val="7FDB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2194560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Product Catalog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8680" y="248716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by category with high-quality images and clear specs.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2971800"/>
            <a:ext cx="109728" cy="109728"/>
          </a:xfrm>
          <a:prstGeom prst="ellipse">
            <a:avLst/>
          </a:prstGeom>
          <a:solidFill>
            <a:srgbClr val="7FDBFF"/>
          </a:solidFill>
          <a:ln w="12700">
            <a:solidFill>
              <a:srgbClr val="7FDB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8680" y="2852928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Search &amp; Filters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68680" y="3145536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price, brand, energy rating and features.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3630168"/>
            <a:ext cx="109728" cy="109728"/>
          </a:xfrm>
          <a:prstGeom prst="ellipse">
            <a:avLst/>
          </a:prstGeom>
          <a:solidFill>
            <a:srgbClr val="7FDBFF"/>
          </a:solidFill>
          <a:ln w="12700">
            <a:solidFill>
              <a:srgbClr val="7FDB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68680" y="3511296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Checkout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68680" y="3803904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payment options with safe, encrypted transactions.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4288536"/>
            <a:ext cx="109728" cy="109728"/>
          </a:xfrm>
          <a:prstGeom prst="ellipse">
            <a:avLst/>
          </a:prstGeom>
          <a:solidFill>
            <a:srgbClr val="7FDBFF"/>
          </a:solidFill>
          <a:ln w="12700">
            <a:solidFill>
              <a:srgbClr val="7FDB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8680" y="4169664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&amp; Compare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68680" y="44622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favourites and compare products side by side.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946904"/>
            <a:ext cx="109728" cy="109728"/>
          </a:xfrm>
          <a:prstGeom prst="ellipse">
            <a:avLst/>
          </a:prstGeom>
          <a:solidFill>
            <a:srgbClr val="7FDBFF"/>
          </a:solidFill>
          <a:ln w="12700">
            <a:solidFill>
              <a:srgbClr val="7FDB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68680" y="482803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Tracking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868680" y="51206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updates from order to doorstep delivery.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48640" y="5605272"/>
            <a:ext cx="109728" cy="109728"/>
          </a:xfrm>
          <a:prstGeom prst="ellipse">
            <a:avLst/>
          </a:prstGeom>
          <a:solidFill>
            <a:srgbClr val="7FDBFF"/>
          </a:solidFill>
          <a:ln w="12700">
            <a:solidFill>
              <a:srgbClr val="7FDB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68680" y="5486400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Design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868680" y="577900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and works beautifully on mobile, tablet and desktop.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7FD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09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Inverted="1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  <p:bldP spid="21" grpId="0" animBg="1"/>
      <p:bldP spid="22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FDB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7FD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///  BENEFITS FOR CUSTOMERS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 smtClean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around the customer.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66160" cy="1783080"/>
          </a:xfrm>
          <a:prstGeom prst="rect">
            <a:avLst/>
          </a:prstGeom>
          <a:solidFill>
            <a:srgbClr val="273755"/>
          </a:solidFill>
          <a:ln w="6350">
            <a:solidFill>
              <a:srgbClr val="7FDB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28600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7FD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737360" y="23317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Convenience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30175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 appliances from home, anytime — no need to visit a store.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2103120"/>
            <a:ext cx="3566160" cy="1783080"/>
          </a:xfrm>
          <a:prstGeom prst="rect">
            <a:avLst/>
          </a:prstGeom>
          <a:solidFill>
            <a:srgbClr val="273755"/>
          </a:solidFill>
          <a:ln w="6350">
            <a:solidFill>
              <a:srgbClr val="7FDB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28600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7FD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532120" y="23317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Prices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17720" y="30175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Online-only deals, bundle discounts and seasonal offers.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2103120"/>
            <a:ext cx="3566160" cy="1783080"/>
          </a:xfrm>
          <a:prstGeom prst="rect">
            <a:avLst/>
          </a:prstGeom>
          <a:solidFill>
            <a:srgbClr val="273755"/>
          </a:solidFill>
          <a:ln w="6350">
            <a:solidFill>
              <a:srgbClr val="7FDB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0" y="228600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7FD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326880" y="23317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Brands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12480" y="30175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verified products with manufacturer warranty.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114800"/>
            <a:ext cx="3566160" cy="1783080"/>
          </a:xfrm>
          <a:prstGeom prst="rect">
            <a:avLst/>
          </a:prstGeom>
          <a:solidFill>
            <a:srgbClr val="273755"/>
          </a:solidFill>
          <a:ln w="6350">
            <a:solidFill>
              <a:srgbClr val="7FDB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2976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7FD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737360" y="4343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Delivery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502920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home delivery and installation on most orders.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43400" y="4114800"/>
            <a:ext cx="3566160" cy="1783080"/>
          </a:xfrm>
          <a:prstGeom prst="rect">
            <a:avLst/>
          </a:prstGeom>
          <a:solidFill>
            <a:srgbClr val="273755"/>
          </a:solidFill>
          <a:ln w="6350">
            <a:solidFill>
              <a:srgbClr val="7FDB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7720" y="42976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7FD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5532120" y="4343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Returns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617720" y="502920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smtClean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7-day return and replacement policy.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138160" y="4114800"/>
            <a:ext cx="3566160" cy="1783080"/>
          </a:xfrm>
          <a:prstGeom prst="rect">
            <a:avLst/>
          </a:prstGeom>
          <a:solidFill>
            <a:srgbClr val="273755"/>
          </a:solidFill>
          <a:ln w="6350">
            <a:solidFill>
              <a:srgbClr val="7FDB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12480" y="42976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7FD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9326880" y="4343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Support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412480" y="502920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chat and call support from real appliance experts.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7FD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09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Inverted="1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111">
              <a:alpha val="7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FDBFF"/>
          </a:solidFill>
          <a:ln/>
        </p:spPr>
      </p:sp>
      <p:sp>
        <p:nvSpPr>
          <p:cNvPr id="5" name="Shape 2"/>
          <p:cNvSpPr/>
          <p:nvPr/>
        </p:nvSpPr>
        <p:spPr>
          <a:xfrm>
            <a:off x="12051792" y="0"/>
            <a:ext cx="137160" cy="6858000"/>
          </a:xfrm>
          <a:prstGeom prst="rect">
            <a:avLst/>
          </a:prstGeom>
          <a:solidFill>
            <a:srgbClr val="7FDBFF"/>
          </a:solidFill>
          <a:ln/>
        </p:spPr>
      </p:sp>
      <p:sp>
        <p:nvSpPr>
          <p:cNvPr id="6" name="Text 3"/>
          <p:cNvSpPr/>
          <p:nvPr/>
        </p:nvSpPr>
        <p:spPr>
          <a:xfrm>
            <a:off x="608076" y="13716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0" b="1" kern="0" spc="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10000" dirty="0"/>
          </a:p>
        </p:txBody>
      </p:sp>
      <p:sp>
        <p:nvSpPr>
          <p:cNvPr id="7" name="Shape 4"/>
          <p:cNvSpPr/>
          <p:nvPr/>
        </p:nvSpPr>
        <p:spPr>
          <a:xfrm>
            <a:off x="5545836" y="2798064"/>
            <a:ext cx="1097280" cy="73152"/>
          </a:xfrm>
          <a:prstGeom prst="rect">
            <a:avLst/>
          </a:prstGeom>
          <a:solidFill>
            <a:srgbClr val="7FDBFF"/>
          </a:solidFill>
          <a:ln/>
        </p:spPr>
      </p:sp>
      <p:sp>
        <p:nvSpPr>
          <p:cNvPr id="11" name="Text 8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7FD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09</a:t>
            </a:r>
            <a:endParaRPr lang="en-US" sz="1000" dirty="0"/>
          </a:p>
        </p:txBody>
      </p:sp>
      <p:sp>
        <p:nvSpPr>
          <p:cNvPr id="12" name="TextBox 11"/>
          <p:cNvSpPr txBox="1"/>
          <p:nvPr/>
        </p:nvSpPr>
        <p:spPr>
          <a:xfrm>
            <a:off x="1582057" y="3868698"/>
            <a:ext cx="7997008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smtClean="0">
                <a:solidFill>
                  <a:schemeClr val="bg1"/>
                </a:solidFill>
              </a:rPr>
              <a:t>PRESENTED BY:</a:t>
            </a:r>
          </a:p>
          <a:p>
            <a:r>
              <a:rPr lang="en-US" dirty="0" smtClean="0">
                <a:solidFill>
                  <a:schemeClr val="bg1"/>
                </a:solidFill>
              </a:rPr>
              <a:t>                                                     </a:t>
            </a:r>
            <a:r>
              <a:rPr lang="en-US" sz="2000" dirty="0" smtClean="0">
                <a:solidFill>
                  <a:schemeClr val="bg1"/>
                </a:solidFill>
              </a:rPr>
              <a:t>BATCH 25212A</a:t>
            </a:r>
          </a:p>
          <a:p>
            <a:endParaRPr lang="en-US" dirty="0" smtClean="0">
              <a:solidFill>
                <a:schemeClr val="bg1"/>
              </a:solidFill>
            </a:endParaRPr>
          </a:p>
          <a:p>
            <a:r>
              <a:rPr lang="en-US" dirty="0" smtClean="0">
                <a:solidFill>
                  <a:schemeClr val="bg1"/>
                </a:solidFill>
              </a:rPr>
              <a:t>                                 </a:t>
            </a:r>
            <a:r>
              <a:rPr lang="en-US" dirty="0" smtClean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MYRA ADIL                                      </a:t>
            </a:r>
            <a:r>
              <a:rPr lang="en-US" dirty="0" smtClean="0">
                <a:solidFill>
                  <a:schemeClr val="bg1"/>
                </a:solidFill>
                <a:latin typeface="Cambria" panose="02040503050406030204" charset="0"/>
                <a:cs typeface="Cambria" panose="02040503050406030204" charset="0"/>
                <a:sym typeface="+mn-ea"/>
              </a:rPr>
              <a:t>Student1724650 </a:t>
            </a:r>
            <a:endParaRPr lang="en-US" dirty="0" smtClean="0">
              <a:solidFill>
                <a:schemeClr val="bg1"/>
              </a:solidFill>
              <a:sym typeface="+mn-ea"/>
            </a:endParaRPr>
          </a:p>
          <a:p>
            <a:r>
              <a:rPr lang="en-US" dirty="0" smtClean="0">
                <a:solidFill>
                  <a:schemeClr val="bg1"/>
                </a:solidFill>
                <a:latin typeface="Cambria" panose="02040503050406030204" charset="0"/>
                <a:cs typeface="Cambria" panose="02040503050406030204" charset="0"/>
                <a:sym typeface="+mn-ea"/>
              </a:rPr>
              <a:t>                                  HAREEM KHAN   </a:t>
            </a:r>
            <a:r>
              <a:rPr lang="en-US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dirty="0" smtClean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    </a:t>
            </a:r>
            <a:r>
              <a:rPr lang="en-US" dirty="0" smtClean="0">
                <a:solidFill>
                  <a:schemeClr val="bg1"/>
                </a:solidFill>
                <a:latin typeface="Cambria" panose="02040503050406030204" charset="0"/>
                <a:cs typeface="Cambria" panose="02040503050406030204" charset="0"/>
                <a:sym typeface="+mn-ea"/>
              </a:rPr>
              <a:t>                  Student1719293</a:t>
            </a:r>
          </a:p>
          <a:p>
            <a:r>
              <a:rPr lang="en-US" dirty="0" smtClean="0">
                <a:solidFill>
                  <a:schemeClr val="bg1"/>
                </a:solidFill>
                <a:latin typeface="Cambria" panose="02040503050406030204" charset="0"/>
                <a:cs typeface="Cambria" panose="02040503050406030204" charset="0"/>
                <a:sym typeface="+mn-ea"/>
              </a:rPr>
              <a:t>                                  MUHAMMAD MUBEEN                Student1719268</a:t>
            </a:r>
          </a:p>
          <a:p>
            <a:pPr algn="ctr"/>
            <a:endParaRPr lang="en-US" dirty="0" smtClean="0">
              <a:solidFill>
                <a:schemeClr val="bg1"/>
              </a:solidFill>
              <a:latin typeface="Cambria" panose="02040503050406030204" charset="0"/>
              <a:cs typeface="Cambria" panose="02040503050406030204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Inverted="1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</TotalTime>
  <Words>430</Words>
  <Application>Microsoft Office PowerPoint</Application>
  <PresentationFormat>Widescreen</PresentationFormat>
  <Paragraphs>105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Cambria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VoltHome — Home Appliances Website</dc:title>
  <dc:subject>PptxGenJS Presentation</dc:subject>
  <dc:creator>PptxGenJS</dc:creator>
  <cp:lastModifiedBy>123</cp:lastModifiedBy>
  <cp:revision>15</cp:revision>
  <dcterms:created xsi:type="dcterms:W3CDTF">2026-05-30T08:32:58Z</dcterms:created>
  <dcterms:modified xsi:type="dcterms:W3CDTF">2026-05-30T11:23:49Z</dcterms:modified>
</cp:coreProperties>
</file>